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3"/>
    <p:sldId id="257" r:id="rId4"/>
    <p:sldId id="264" r:id="rId5"/>
    <p:sldId id="271" r:id="rId6"/>
    <p:sldId id="258" r:id="rId7"/>
    <p:sldId id="272" r:id="rId8"/>
    <p:sldId id="274" r:id="rId9"/>
    <p:sldId id="275" r:id="rId10"/>
    <p:sldId id="276" r:id="rId11"/>
    <p:sldId id="278" r:id="rId12"/>
    <p:sldId id="277" r:id="rId13"/>
  </p:sldIdLst>
  <p:sldSz cx="12192000" cy="6858000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2B2B2"/>
    <a:srgbClr val="202020"/>
    <a:srgbClr val="323232"/>
    <a:srgbClr val="CC3300"/>
    <a:srgbClr val="CC0000"/>
    <a:srgbClr val="FF3300"/>
    <a:srgbClr val="990000"/>
    <a:srgbClr val="FF8D41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117" d="100"/>
          <a:sy n="117" d="100"/>
        </p:scale>
        <p:origin x="510" y="10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handoutMaster" Target="handoutMasters/handoutMaster1.xml"/><Relationship Id="rId14" Type="http://schemas.openxmlformats.org/officeDocument/2006/relationships/notesMaster" Target="notesMasters/notesMaster1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Slide Number Placeholder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C8D182-E4C8-4120-9249-FC9774456FFA}" type="datetimeFigureOut">
              <a:rPr lang="en-US" smtClean="0"/>
            </a:fld>
            <a:endParaRPr lang="en-US"/>
          </a:p>
        </p:txBody>
      </p:sp>
      <p:sp>
        <p:nvSpPr>
          <p:cNvPr id="4" name="Slide Image Placeho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 Placeholder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D0DACE-38E0-42D2-9336-2B707D34BC6D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322962"/>
            <a:ext cx="9144000" cy="2187001"/>
          </a:xfrm>
        </p:spPr>
        <p:txBody>
          <a:bodyPr anchor="b">
            <a:normAutofit/>
          </a:bodyPr>
          <a:lstStyle>
            <a:lvl1pPr algn="ctr">
              <a:lnSpc>
                <a:spcPct val="130000"/>
              </a:lnSpc>
              <a:defRPr sz="6000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4" name="Date Placeholder 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Calibri Light" panose="020F0302020204030204" pitchFamily="34" charset="0"/>
                <a:ea typeface="+mj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 smtClean="0"/>
              <a:t>Click to edit Master subtitle style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 anchor="ctr" anchorCtr="0">
            <a:normAutofit/>
          </a:bodyPr>
          <a:lstStyle>
            <a:lvl1pPr>
              <a:defRPr sz="4400" b="1">
                <a:effectLst/>
                <a:latin typeface="Calibri Light" panose="020F0302020204030204" pitchFamily="34" charset="0"/>
              </a:defRPr>
            </a:lvl1pPr>
          </a:lstStyle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7700" y="1825625"/>
            <a:ext cx="10515600" cy="4351338"/>
          </a:xfrm>
        </p:spPr>
        <p:txBody>
          <a:bodyPr>
            <a:normAutofit/>
          </a:bodyPr>
          <a:lstStyle>
            <a:lvl1pPr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/>
              <a:t>Second level 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3750945"/>
            <a:ext cx="9843135" cy="811530"/>
          </a:xfrm>
        </p:spPr>
        <p:txBody>
          <a:bodyPr anchor="b">
            <a:noAutofit/>
          </a:bodyPr>
          <a:lstStyle>
            <a:lvl1pPr>
              <a:defRPr sz="600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 smtClean="0">
              <a:sym typeface="+mn-ea"/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610028"/>
            <a:ext cx="7321550" cy="647555"/>
          </a:xfrm>
        </p:spPr>
        <p:txBody>
          <a:bodyPr>
            <a:noAutofit/>
          </a:bodyPr>
          <a:lstStyle>
            <a:lvl1pPr marL="0" indent="0">
              <a:buNone/>
              <a:defRPr sz="24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7700" y="258445"/>
            <a:ext cx="10515600" cy="1325563"/>
          </a:xfrm>
        </p:spPr>
        <p:txBody>
          <a:bodyPr>
            <a:normAutofit/>
          </a:bodyPr>
          <a:lstStyle>
            <a:lvl1pPr>
              <a:defRPr sz="4400" b="0" i="0">
                <a:effectLst/>
              </a:defRPr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47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3pPr>
            <a:lvl4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4pPr>
            <a:lvl5pPr>
              <a:lnSpc>
                <a:spcPct val="150000"/>
              </a:lnSpc>
              <a:defRPr sz="180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17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kumimoji="0" lang="en-US" sz="2800" b="0" i="0" u="none" strike="noStrike" kern="1200" cap="none" spc="0" normalizeH="0" baseline="0" noProof="1" dirty="0">
                <a:solidFill>
                  <a:schemeClr val="tx1">
                    <a:lumMod val="75000"/>
                    <a:lumOff val="25000"/>
                  </a:schemeClr>
                </a:solidFill>
                <a:latin typeface="Calibri Light" panose="020F0302020204030204" pitchFamily="34" charset="0"/>
                <a:ea typeface="+mn-ea"/>
                <a:cs typeface="+mn-cs"/>
              </a:defRPr>
            </a:lvl1pPr>
            <a:lvl2pPr>
              <a:lnSpc>
                <a:spcPct val="150000"/>
              </a:lnSpc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sz="4400"/>
            </a:lvl1pPr>
          </a:lstStyle>
          <a:p>
            <a:r>
              <a:rPr lang="en-US" dirty="0" smtClean="0">
                <a:sym typeface="+mn-ea"/>
              </a:rPr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744961"/>
            <a:ext cx="5157787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615609"/>
            <a:ext cx="5157787" cy="357405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744961"/>
            <a:ext cx="5183188" cy="823912"/>
          </a:xfrm>
        </p:spPr>
        <p:txBody>
          <a:bodyPr anchor="b"/>
          <a:lstStyle>
            <a:lvl1pPr marL="0" indent="0">
              <a:buNone/>
              <a:defRPr sz="2400" b="1"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615609"/>
            <a:ext cx="5183188" cy="3574054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766219"/>
            <a:ext cx="10515600" cy="1325563"/>
          </a:xfrm>
        </p:spPr>
        <p:txBody>
          <a:bodyPr>
            <a:normAutofit/>
          </a:bodyPr>
          <a:lstStyle>
            <a:lvl1pPr algn="ctr">
              <a:defRPr sz="44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747" y="127000"/>
            <a:ext cx="4165200" cy="1600200"/>
          </a:xfrm>
        </p:spPr>
        <p:txBody>
          <a:bodyPr anchor="ctr" anchorCtr="0">
            <a:normAutofit/>
          </a:bodyPr>
          <a:lstStyle>
            <a:lvl1pPr>
              <a:defRPr sz="3200" b="0">
                <a:effectLst/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4000" y="766354"/>
            <a:ext cx="5817375" cy="5094446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51827" y="2057400"/>
            <a:ext cx="4165200" cy="381158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824484" y="365125"/>
            <a:ext cx="1529316" cy="5811838"/>
          </a:xfrm>
        </p:spPr>
        <p:txBody>
          <a:bodyPr vert="eaVert">
            <a:normAutofit/>
          </a:bodyPr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8879958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838200" y="551543"/>
            <a:ext cx="10515600" cy="5558971"/>
          </a:xfrm>
        </p:spPr>
        <p:txBody>
          <a:bodyPr/>
          <a:lstStyle/>
          <a:p>
            <a:pPr lvl="0"/>
            <a:r>
              <a:rPr lang="en-US" dirty="0">
                <a:sym typeface="+mn-ea"/>
              </a:rPr>
              <a:t>Click to edit Master text styles</a:t>
            </a:r>
            <a:endParaRPr lang="en-US" dirty="0"/>
          </a:p>
          <a:p>
            <a:pPr lvl="1"/>
            <a:r>
              <a:rPr lang="en-US" dirty="0">
                <a:sym typeface="+mn-ea"/>
              </a:rPr>
              <a:t>Second level</a:t>
            </a:r>
            <a:endParaRPr lang="en-US" dirty="0"/>
          </a:p>
          <a:p>
            <a:pPr lvl="2"/>
            <a:r>
              <a:rPr lang="en-US" dirty="0">
                <a:sym typeface="+mn-ea"/>
              </a:rPr>
              <a:t>Third level</a:t>
            </a:r>
            <a:endParaRPr lang="en-US" dirty="0"/>
          </a:p>
          <a:p>
            <a:pPr lvl="3"/>
            <a:r>
              <a:rPr lang="en-US" dirty="0">
                <a:sym typeface="+mn-ea"/>
              </a:rPr>
              <a:t>Fourth level</a:t>
            </a:r>
            <a:endParaRPr lang="en-US" dirty="0"/>
          </a:p>
          <a:p>
            <a:pPr lvl="4"/>
            <a:r>
              <a:rPr lang="en-US" dirty="0">
                <a:sym typeface="+mn-ea"/>
              </a:rPr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  <a:endParaRPr lang="ru-RU" smtClean="0"/>
          </a:p>
          <a:p>
            <a:pPr lvl="1"/>
            <a:r>
              <a:rPr lang="ru-RU" smtClean="0"/>
              <a:t>Второй уровень</a:t>
            </a:r>
            <a:endParaRPr lang="ru-RU" smtClean="0"/>
          </a:p>
          <a:p>
            <a:pPr lvl="2"/>
            <a:r>
              <a:rPr lang="ru-RU" smtClean="0"/>
              <a:t>Третий уровень</a:t>
            </a:r>
            <a:endParaRPr lang="ru-RU" smtClean="0"/>
          </a:p>
          <a:p>
            <a:pPr lvl="3"/>
            <a:r>
              <a:rPr lang="ru-RU" smtClean="0"/>
              <a:t>Четвертый уровень</a:t>
            </a:r>
            <a:endParaRPr lang="ru-RU" smtClean="0"/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defRPr/>
            </a:pPr>
            <a:r>
              <a:rPr lang="en-US" dirty="0" smtClean="0"/>
              <a:t>Click to edit Master text styles</a:t>
            </a:r>
            <a:endParaRPr lang="en-US" dirty="0" smtClean="0"/>
          </a:p>
          <a:p>
            <a:pPr lvl="1"/>
            <a:r>
              <a:rPr lang="en-US" dirty="0" smtClean="0"/>
              <a:t>Second level</a:t>
            </a:r>
            <a:endParaRPr lang="en-US" dirty="0" smtClean="0"/>
          </a:p>
          <a:p>
            <a:pPr lvl="2"/>
            <a:r>
              <a:rPr lang="en-US" dirty="0" smtClean="0"/>
              <a:t>Third level</a:t>
            </a:r>
            <a:endParaRPr lang="en-US" dirty="0"/>
          </a:p>
          <a:p>
            <a:pPr lvl="3"/>
            <a:r>
              <a:rPr lang="en-US" dirty="0" smtClean="0"/>
              <a:t>Fourth level</a:t>
            </a:r>
            <a:endParaRPr lang="en-US" dirty="0"/>
          </a:p>
          <a:p>
            <a:pPr lvl="4"/>
            <a:r>
              <a:rPr lang="en-US" dirty="0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2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Calibri Light" panose="020F0302020204030204" pitchFamily="34" charset="0"/>
                <a:cs typeface="Calibri Light" panose="020F0302020204030204" pitchFamily="34" charset="0"/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chemeClr val="tx1"/>
          </a:solidFill>
          <a:latin typeface="Calibri Light" panose="020F0302020204030204" pitchFamily="34" charset="0"/>
          <a:ea typeface="+mj-ea"/>
          <a:cs typeface="+mj-cs"/>
        </a:defRPr>
      </a:lvl1pPr>
    </p:titleStyle>
    <p:bodyStyle>
      <a:lvl1pPr marL="0" marR="0" indent="0" algn="l" defTabSz="914400" rtl="0" eaLnBrk="1" fontAlgn="auto" latinLnBrk="0" hangingPunct="1">
        <a:lnSpc>
          <a:spcPct val="90000"/>
        </a:lnSpc>
        <a:spcBef>
          <a:spcPts val="1000"/>
        </a:spcBef>
        <a:spcAft>
          <a:spcPts val="0"/>
        </a:spcAft>
        <a:buClrTx/>
        <a:buSzTx/>
        <a:buFont typeface="Arial" panose="020B0604020202020204" pitchFamily="34" charset="0"/>
        <a:buNone/>
        <a:defRPr sz="2800" b="0" kern="120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tx1"/>
          </a:solidFill>
          <a:latin typeface="Calibri Light" panose="020F030202020403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tx1"/>
          </a:solidFill>
          <a:effectLst/>
          <a:latin typeface="Calibri Light" panose="020F0302020204030204" pitchFamily="34" charset="0"/>
          <a:ea typeface="+mn-ea"/>
          <a:cs typeface="Calibri Light" panose="020F03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p>
            <a:r>
              <a:rPr lang="ru-RU" altLang="en-US"/>
              <a:t>Лабораторная работа 5</a:t>
            </a:r>
            <a:endParaRPr lang="ru-RU" altLang="en-US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p>
            <a:r>
              <a:rPr lang="ru-RU" altLang="en-US"/>
              <a:t>Построение графиков</a:t>
            </a:r>
            <a:endParaRPr lang="ru-RU" altLang="en-US"/>
          </a:p>
          <a:p>
            <a:r>
              <a:rPr lang="ru-RU" altLang="en-US"/>
              <a:t>Цвелев С.А. НПИбд-0</a:t>
            </a:r>
            <a:r>
              <a:rPr lang="en-US" altLang="ru-RU"/>
              <a:t>1</a:t>
            </a:r>
            <a:r>
              <a:rPr lang="ru-RU" altLang="en-US"/>
              <a:t>-22</a:t>
            </a:r>
            <a:endParaRPr lang="ru-RU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/>
              <a:t>Цель работы</a:t>
            </a:r>
            <a:endParaRPr lang="ru-RU" altLang="en-US"/>
          </a:p>
        </p:txBody>
      </p:sp>
      <p:sp>
        <p:nvSpPr>
          <p:cNvPr id="5" name="Замещающее содержимое 4"/>
          <p:cNvSpPr>
            <a:spLocks noGrp="1"/>
          </p:cNvSpPr>
          <p:nvPr>
            <p:ph idx="1"/>
          </p:nvPr>
        </p:nvSpPr>
        <p:spPr/>
        <p:txBody>
          <a:bodyPr/>
          <a:p>
            <a:r>
              <a:rPr lang="en-US" altLang="en-US"/>
              <a:t>Основная</a:t>
            </a:r>
            <a:r>
              <a:rPr lang="en-US" altLang="ru-RU"/>
              <a:t> </a:t>
            </a:r>
            <a:r>
              <a:rPr lang="en-US" altLang="en-US"/>
              <a:t>цель</a:t>
            </a:r>
            <a:r>
              <a:rPr lang="en-US" altLang="ru-RU"/>
              <a:t> </a:t>
            </a:r>
            <a:r>
              <a:rPr lang="en-US" altLang="en-US"/>
              <a:t>работы</a:t>
            </a:r>
            <a:r>
              <a:rPr lang="en-US" altLang="ru-RU"/>
              <a:t> — </a:t>
            </a:r>
            <a:r>
              <a:rPr lang="en-US" altLang="en-US"/>
              <a:t>освоить</a:t>
            </a:r>
            <a:r>
              <a:rPr lang="en-US" altLang="ru-RU"/>
              <a:t> </a:t>
            </a:r>
            <a:r>
              <a:rPr lang="en-US" altLang="en-US"/>
              <a:t>синтаксис</a:t>
            </a:r>
            <a:r>
              <a:rPr lang="en-US" altLang="ru-RU"/>
              <a:t> </a:t>
            </a:r>
            <a:r>
              <a:rPr lang="en-US" altLang="en-US"/>
              <a:t>языка</a:t>
            </a:r>
            <a:r>
              <a:rPr lang="en-US" altLang="ru-RU"/>
              <a:t> Julia </a:t>
            </a:r>
            <a:r>
              <a:rPr lang="en-US" altLang="en-US"/>
              <a:t>для</a:t>
            </a:r>
            <a:r>
              <a:rPr lang="en-US" altLang="ru-RU"/>
              <a:t> </a:t>
            </a:r>
            <a:r>
              <a:rPr lang="en-US" altLang="en-US"/>
              <a:t>построения</a:t>
            </a:r>
            <a:r>
              <a:rPr lang="en-US" altLang="ru-RU"/>
              <a:t> </a:t>
            </a:r>
            <a:r>
              <a:rPr lang="en-US" altLang="en-US"/>
              <a:t>графиков</a:t>
            </a:r>
            <a:r>
              <a:rPr lang="en-US" altLang="ru-RU"/>
              <a:t>.</a:t>
            </a:r>
            <a:endParaRPr lang="en-US" altLang="ru-RU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/>
              <a:t>Различные типы графиков</a:t>
            </a:r>
            <a:endParaRPr lang="ru-RU"/>
          </a:p>
        </p:txBody>
      </p:sp>
      <p:pic>
        <p:nvPicPr>
          <p:cNvPr id="4" name="Изображение 1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977515" y="1825625"/>
            <a:ext cx="5854700" cy="4351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/>
              <a:t>Грифик функции </a:t>
            </a:r>
            <a:r>
              <a:rPr lang="en-US" altLang="ru-RU"/>
              <a:t> y = sin(x), x = 0, 2π</a:t>
            </a:r>
            <a:endParaRPr lang="en-US" altLang="ru-RU"/>
          </a:p>
        </p:txBody>
      </p:sp>
      <p:pic>
        <p:nvPicPr>
          <p:cNvPr id="4" name="Изображение 2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204845" y="1825625"/>
            <a:ext cx="5400675" cy="4351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ru-RU"/>
              <a:t>График функции </a:t>
            </a:r>
            <a:r>
              <a:rPr lang="en-US" altLang="ru-RU"/>
              <a:t>y(x) = πx</a:t>
            </a:r>
            <a:r>
              <a:rPr lang="en-US" altLang="en-US"/>
              <a:t>²</a:t>
            </a:r>
            <a:r>
              <a:rPr lang="en-US" altLang="ru-RU"/>
              <a:t> ln(x)</a:t>
            </a:r>
            <a:endParaRPr lang="en-US" altLang="ru-RU"/>
          </a:p>
        </p:txBody>
      </p:sp>
      <p:pic>
        <p:nvPicPr>
          <p:cNvPr id="4" name="Изображение 3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497580" y="1825625"/>
            <a:ext cx="4815205" cy="4351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ru-RU"/>
              <a:t>Графики функции </a:t>
            </a:r>
            <a:r>
              <a:rPr lang="en-US" altLang="ru-RU"/>
              <a:t> y(x) = x</a:t>
            </a:r>
            <a:r>
              <a:rPr lang="en-US" altLang="en-US"/>
              <a:t>³</a:t>
            </a:r>
            <a:r>
              <a:rPr lang="en-US" altLang="ru-RU"/>
              <a:t> − 3x</a:t>
            </a:r>
            <a:endParaRPr lang="en-US" altLang="ru-RU"/>
          </a:p>
        </p:txBody>
      </p:sp>
      <p:pic>
        <p:nvPicPr>
          <p:cNvPr id="5" name="Изображение 4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267710" y="1825625"/>
            <a:ext cx="5274945" cy="4351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ru-RU"/>
              <a:t>Решение СЛАУ</a:t>
            </a:r>
            <a:endParaRPr lang="ru-RU" altLang="ru-RU"/>
          </a:p>
        </p:txBody>
      </p:sp>
      <p:pic>
        <p:nvPicPr>
          <p:cNvPr id="6" name="Изображение 7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862070" y="2738755"/>
            <a:ext cx="4086225" cy="252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ru-RU" altLang="en-US"/>
              <a:t>Г</a:t>
            </a:r>
            <a:r>
              <a:rPr lang="en-US" altLang="en-US"/>
              <a:t>рафики</a:t>
            </a:r>
            <a:r>
              <a:rPr lang="en-US" altLang="ru-RU"/>
              <a:t> </a:t>
            </a:r>
            <a:r>
              <a:rPr lang="en-US" altLang="en-US"/>
              <a:t>функций</a:t>
            </a:r>
            <a:r>
              <a:rPr lang="en-US" altLang="ru-RU"/>
              <a:t> y1(x) = πx </a:t>
            </a:r>
            <a:r>
              <a:rPr lang="en-US" altLang="en-US"/>
              <a:t>и</a:t>
            </a:r>
            <a:r>
              <a:rPr lang="en-US" altLang="ru-RU"/>
              <a:t> y2(x) = exp(x) cos(x)</a:t>
            </a:r>
            <a:endParaRPr lang="en-US" altLang="ru-RU"/>
          </a:p>
        </p:txBody>
      </p:sp>
      <p:pic>
        <p:nvPicPr>
          <p:cNvPr id="5" name="Изображение 5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3129915" y="1825625"/>
            <a:ext cx="5549900" cy="4351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p>
            <a:r>
              <a:rPr lang="ru-RU"/>
              <a:t>Г</a:t>
            </a:r>
            <a:r>
              <a:rPr lang="en-US" altLang="en-US"/>
              <a:t>рафик</a:t>
            </a:r>
            <a:r>
              <a:rPr lang="en-US" altLang="ru-RU"/>
              <a:t> </a:t>
            </a:r>
            <a:r>
              <a:rPr lang="en-US" altLang="en-US"/>
              <a:t>некоторых</a:t>
            </a:r>
            <a:r>
              <a:rPr lang="en-US" altLang="ru-RU"/>
              <a:t> </a:t>
            </a:r>
            <a:r>
              <a:rPr lang="en-US" altLang="en-US"/>
              <a:t>экспериментальных</a:t>
            </a:r>
            <a:r>
              <a:rPr lang="en-US" altLang="ru-RU"/>
              <a:t> </a:t>
            </a:r>
            <a:r>
              <a:rPr lang="en-US" altLang="en-US"/>
              <a:t>данных</a:t>
            </a:r>
            <a:endParaRPr lang="ru-RU" altLang="en-US"/>
          </a:p>
        </p:txBody>
      </p:sp>
      <p:pic>
        <p:nvPicPr>
          <p:cNvPr id="6" name="Изображение 6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719705" y="1825625"/>
            <a:ext cx="6370320" cy="4351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p>
            <a:r>
              <a:rPr lang="ru-RU"/>
              <a:t>Точечный график случайных данных</a:t>
            </a:r>
            <a:endParaRPr lang="ru-RU"/>
          </a:p>
        </p:txBody>
      </p:sp>
      <p:pic>
        <p:nvPicPr>
          <p:cNvPr id="7" name="Изображение 7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677795" y="1825625"/>
            <a:ext cx="6454140" cy="4351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p>
            <a:r>
              <a:rPr lang="ru-RU" altLang="en-US"/>
              <a:t>3-х мёрный точечный график</a:t>
            </a:r>
            <a:endParaRPr lang="ru-RU" altLang="en-US"/>
          </a:p>
        </p:txBody>
      </p:sp>
      <p:pic>
        <p:nvPicPr>
          <p:cNvPr id="8" name="Изображение 8"/>
          <p:cNvPicPr>
            <a:picLocks noChangeAspect="1"/>
          </p:cNvPicPr>
          <p:nvPr>
            <p:ph idx="1"/>
          </p:nvPr>
        </p:nvPicPr>
        <p:blipFill>
          <a:blip r:embed="rId1"/>
          <a:stretch>
            <a:fillRect/>
          </a:stretch>
        </p:blipFill>
        <p:spPr>
          <a:xfrm>
            <a:off x="2554605" y="1825625"/>
            <a:ext cx="6701155" cy="435165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"/>
        <a:cs typeface=""/>
        <a:font script="Jpan" typeface="游ゴシック Light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"/>
        <a:cs typeface=""/>
        <a:font script="Jpan" typeface="游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434</Words>
  <Application>WPS Presentation</Application>
  <PresentationFormat>宽屏</PresentationFormat>
  <Paragraphs>27</Paragraphs>
  <Slides>11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9" baseType="lpstr">
      <vt:lpstr>Arial</vt:lpstr>
      <vt:lpstr>SimSun</vt:lpstr>
      <vt:lpstr>Wingdings</vt:lpstr>
      <vt:lpstr>Calibri Light</vt:lpstr>
      <vt:lpstr>Microsoft YaHei</vt:lpstr>
      <vt:lpstr>Arial Unicode MS</vt:lpstr>
      <vt:lpstr>Calibri</vt:lpstr>
      <vt:lpstr>Office Theme</vt:lpstr>
      <vt:lpstr>Лабораторная работа 4</vt:lpstr>
      <vt:lpstr>Цель работы</vt:lpstr>
      <vt:lpstr>Умножение вектора самого на себя</vt:lpstr>
      <vt:lpstr>Умножение вектора самого на себя</vt:lpstr>
      <vt:lpstr>Решение СЛАУ с 2 неизвестными</vt:lpstr>
      <vt:lpstr>Решение СЛАУ</vt:lpstr>
      <vt:lpstr>Решение СЛАУ</vt:lpstr>
      <vt:lpstr>Операции с матрицами</vt:lpstr>
      <vt:lpstr>Операции с матрицами</vt:lpstr>
      <vt:lpstr>График некоторых экспериментальных данныхии с матрицами</vt:lpstr>
      <vt:lpstr>Собственные значения матрицы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Грибобес</cp:lastModifiedBy>
  <cp:revision>14</cp:revision>
  <dcterms:created xsi:type="dcterms:W3CDTF">2024-01-28T20:18:00Z</dcterms:created>
  <dcterms:modified xsi:type="dcterms:W3CDTF">2026-03-17T18:30:36Z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1049-12.2.0.23196</vt:lpwstr>
  </property>
  <property fmtid="{D5CDD505-2E9C-101B-9397-08002B2CF9AE}" pid="3" name="ICV">
    <vt:lpwstr>82569B5933DC4A2F9B03B25A265A4C68_12</vt:lpwstr>
  </property>
</Properties>
</file>