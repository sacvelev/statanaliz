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4" r:id="rId5"/>
    <p:sldId id="271" r:id="rId6"/>
    <p:sldId id="258" r:id="rId7"/>
    <p:sldId id="272" r:id="rId8"/>
    <p:sldId id="274" r:id="rId9"/>
    <p:sldId id="275" r:id="rId10"/>
    <p:sldId id="277" r:id="rId11"/>
    <p:sldId id="278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6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Решение</a:t>
            </a:r>
            <a:r>
              <a:rPr lang="en-US" altLang="ru-RU"/>
              <a:t> </a:t>
            </a:r>
            <a:r>
              <a:rPr lang="en-US" altLang="en-US"/>
              <a:t>моделей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непрерывном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дискретном</a:t>
            </a:r>
            <a:r>
              <a:rPr lang="en-US" altLang="ru-RU"/>
              <a:t> </a:t>
            </a:r>
            <a:r>
              <a:rPr lang="en-US" altLang="en-US"/>
              <a:t>времени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освоение</a:t>
            </a:r>
            <a:r>
              <a:rPr lang="en-US" altLang="ru-RU"/>
              <a:t> </a:t>
            </a:r>
            <a:r>
              <a:rPr lang="en-US" altLang="en-US"/>
              <a:t>специализированных</a:t>
            </a:r>
            <a:r>
              <a:rPr lang="en-US" altLang="ru-RU"/>
              <a:t> </a:t>
            </a:r>
            <a:r>
              <a:rPr lang="en-US" altLang="en-US"/>
              <a:t>пакетов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r>
              <a:rPr lang="en-US" altLang="ru-RU"/>
              <a:t> </a:t>
            </a:r>
            <a:r>
              <a:rPr lang="en-US" altLang="en-US"/>
              <a:t>задач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непрерывном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дискретном</a:t>
            </a:r>
            <a:r>
              <a:rPr lang="en-US" altLang="ru-RU"/>
              <a:t> </a:t>
            </a:r>
            <a:r>
              <a:rPr lang="en-US" altLang="en-US"/>
              <a:t>времени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М</a:t>
            </a:r>
            <a:r>
              <a:rPr lang="en-US" altLang="en-US"/>
              <a:t>одель</a:t>
            </a:r>
            <a:r>
              <a:rPr lang="en-US" altLang="ru-RU"/>
              <a:t> </a:t>
            </a:r>
            <a:r>
              <a:rPr lang="en-US" altLang="en-US"/>
              <a:t>роста</a:t>
            </a:r>
            <a:r>
              <a:rPr lang="en-US" altLang="ru-RU"/>
              <a:t> </a:t>
            </a:r>
            <a:r>
              <a:rPr lang="en-US" altLang="en-US"/>
              <a:t>численности</a:t>
            </a:r>
            <a:r>
              <a:rPr lang="en-US" altLang="ru-RU"/>
              <a:t> </a:t>
            </a:r>
            <a:r>
              <a:rPr lang="en-US" altLang="en-US"/>
              <a:t>изолированной</a:t>
            </a:r>
            <a:r>
              <a:rPr lang="en-US" altLang="ru-RU"/>
              <a:t> </a:t>
            </a:r>
            <a:r>
              <a:rPr lang="en-US" altLang="en-US"/>
              <a:t>популяции</a:t>
            </a:r>
            <a:r>
              <a:rPr lang="en-US" altLang="ru-RU"/>
              <a:t> (</a:t>
            </a:r>
            <a:r>
              <a:rPr lang="en-US" altLang="en-US"/>
              <a:t>модель</a:t>
            </a:r>
            <a:r>
              <a:rPr lang="en-US" altLang="ru-RU"/>
              <a:t> </a:t>
            </a:r>
            <a:r>
              <a:rPr lang="en-US" altLang="en-US"/>
              <a:t>Мальтуса</a:t>
            </a:r>
            <a:r>
              <a:rPr lang="en-US" altLang="ru-RU"/>
              <a:t>)</a:t>
            </a:r>
            <a:endParaRPr lang="en-US" altLang="ru-RU"/>
          </a:p>
        </p:txBody>
      </p:sp>
      <p:pic>
        <p:nvPicPr>
          <p:cNvPr id="5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31540" y="1825625"/>
            <a:ext cx="494728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Логистическая </a:t>
            </a:r>
            <a:r>
              <a:rPr lang="en-US" altLang="en-US"/>
              <a:t>модель</a:t>
            </a:r>
            <a:r>
              <a:rPr lang="en-US" altLang="ru-RU"/>
              <a:t> </a:t>
            </a:r>
            <a:r>
              <a:rPr lang="en-US" altLang="en-US"/>
              <a:t>роста</a:t>
            </a:r>
            <a:r>
              <a:rPr lang="en-US" altLang="ru-RU"/>
              <a:t> </a:t>
            </a:r>
            <a:r>
              <a:rPr lang="en-US" altLang="en-US"/>
              <a:t>популяции</a:t>
            </a:r>
            <a:endParaRPr lang="en-US" altLang="en-US"/>
          </a:p>
        </p:txBody>
      </p:sp>
      <p:pic>
        <p:nvPicPr>
          <p:cNvPr id="5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7260" y="1825625"/>
            <a:ext cx="485521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</a:t>
            </a:r>
            <a:r>
              <a:rPr lang="en-US" altLang="en-US"/>
              <a:t>одель</a:t>
            </a:r>
            <a:r>
              <a:rPr lang="en-US" altLang="ru-RU"/>
              <a:t> </a:t>
            </a:r>
            <a:r>
              <a:rPr lang="en-US" altLang="en-US"/>
              <a:t>эпидемии</a:t>
            </a:r>
            <a:r>
              <a:rPr lang="en-US" altLang="ru-RU"/>
              <a:t> </a:t>
            </a:r>
            <a:r>
              <a:rPr lang="en-US" altLang="en-US"/>
              <a:t>Кермака</a:t>
            </a:r>
            <a:r>
              <a:rPr lang="en-US" altLang="ru-RU"/>
              <a:t>–</a:t>
            </a:r>
            <a:r>
              <a:rPr lang="en-US" altLang="en-US"/>
              <a:t>Маккендрика</a:t>
            </a:r>
            <a:r>
              <a:rPr lang="en-US" altLang="ru-RU"/>
              <a:t> </a:t>
            </a:r>
            <a:endParaRPr lang="en-US" altLang="ru-RU"/>
          </a:p>
        </p:txBody>
      </p:sp>
      <p:pic>
        <p:nvPicPr>
          <p:cNvPr id="8" name="Изображение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99485" y="1825625"/>
            <a:ext cx="481076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Расширение модели эпидемии</a:t>
            </a:r>
            <a:endParaRPr lang="ru-RU"/>
          </a:p>
        </p:txBody>
      </p:sp>
      <p:pic>
        <p:nvPicPr>
          <p:cNvPr id="9" name="Изображение 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6350" y="1825625"/>
            <a:ext cx="417766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Д</a:t>
            </a:r>
            <a:r>
              <a:rPr lang="en-US" altLang="en-US"/>
              <a:t>искретн</a:t>
            </a:r>
            <a:r>
              <a:rPr lang="ru-RU" altLang="en-US"/>
              <a:t>ая модель</a:t>
            </a:r>
            <a:r>
              <a:rPr lang="en-US" altLang="ru-RU"/>
              <a:t> </a:t>
            </a:r>
            <a:r>
              <a:rPr lang="en-US" altLang="en-US"/>
              <a:t>Лотки</a:t>
            </a:r>
            <a:r>
              <a:rPr lang="en-US" altLang="ru-RU"/>
              <a:t>–</a:t>
            </a:r>
            <a:r>
              <a:rPr lang="en-US" altLang="en-US"/>
              <a:t>Вольтерры</a:t>
            </a:r>
            <a:endParaRPr lang="en-US" altLang="en-US"/>
          </a:p>
        </p:txBody>
      </p:sp>
      <p:pic>
        <p:nvPicPr>
          <p:cNvPr id="10" name="Изображение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88410" y="1825625"/>
            <a:ext cx="423291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/>
              <a:t>Модель отбора</a:t>
            </a:r>
            <a:endParaRPr lang="ru-RU"/>
          </a:p>
        </p:txBody>
      </p:sp>
      <p:pic>
        <p:nvPicPr>
          <p:cNvPr id="11" name="Изображение 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34410" y="1825625"/>
            <a:ext cx="474154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Модель консервативного гармонического осциллятора</a:t>
            </a:r>
            <a:endParaRPr lang="ru-RU" altLang="en-US"/>
          </a:p>
        </p:txBody>
      </p:sp>
      <p:pic>
        <p:nvPicPr>
          <p:cNvPr id="13" name="Изображение 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01390" y="1825625"/>
            <a:ext cx="480695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/>
              <a:t>Модель свободных колебаний</a:t>
            </a:r>
            <a:endParaRPr lang="ru-RU"/>
          </a:p>
        </p:txBody>
      </p:sp>
      <p:pic>
        <p:nvPicPr>
          <p:cNvPr id="14" name="Изображение 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03955" y="1825625"/>
            <a:ext cx="440245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WPS Presentation</Application>
  <PresentationFormat>宽屏</PresentationFormat>
  <Paragraphs>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5</vt:lpstr>
      <vt:lpstr>Цель работы</vt:lpstr>
      <vt:lpstr>Различные типы графиков</vt:lpstr>
      <vt:lpstr>Грифик функции  y = sin(x), x = 0, 2π</vt:lpstr>
      <vt:lpstr>График функции y(x) = πx² ln(x)</vt:lpstr>
      <vt:lpstr>Графики функции  y(x) = x³ − 3x</vt:lpstr>
      <vt:lpstr>Решение СЛАУ</vt:lpstr>
      <vt:lpstr>Графики функций y1(x) = πx и y2(x) = exp(x) cos(x)</vt:lpstr>
      <vt:lpstr>3-х мёрный точечный график</vt:lpstr>
      <vt:lpstr>Точечный график случайных данных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17</cp:revision>
  <dcterms:created xsi:type="dcterms:W3CDTF">2024-01-28T20:18:00Z</dcterms:created>
  <dcterms:modified xsi:type="dcterms:W3CDTF">2026-03-17T18:35:57Z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